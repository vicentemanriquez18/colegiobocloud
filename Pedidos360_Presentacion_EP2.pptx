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Buenas. Presento Pedidos360: una arquitectura cloud native donde un frontend con MSAL se autentica en Microsoft Entra ID y consume, a través de AWS API Gateway, seis microservicios Spring Boot desplegados en EC2 y conectados a PostgreSQL en RDS. Voy a mostrar cada pieza siguiendo el flujo de una petición.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es la arquitectura. El usuario inicia sesión en Entra ID desde el frontend y recibe un JWT. Con ese token llama al API Gateway, que valida emisor y audiencia y solo entonces enruta al microservicio correspondiente en EC2, que usa su propia base en RDS PostgreSQL. Los siguientes slides siguen este mismo orden.</a:t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Entra ID trabajé con un directorio de inquilino único. Registré dos aplicaciones: Pedidos360-API, que expone el scope access_as_user y define tres roles de aplicación, y Pedidos360-Frontend, una SPA con redirección a localhost:5173 y permiso delegado hacia la API. Aquí muestro en vivo el listado de usuarios del tenant.</a:t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frontend usa MSAL con el flujo Authorization Code y PKCE, que es el que MSAL Browser aplica por defecto en una SPA. Al pulsar Iniciar sesión, loginRedirect me lleva a Microsoft, me autentico con mi cuenta y vuelvo a la aplicación con el token. La última captura muestra la sesión iniciada y la llamada al API Gateway respondiendo 200. En vivo muestro además el authorize con code_challenge y state en la pestaña Red del navegador.</a:t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backend son seis microservicios Spring Boot compilados con Maven y subidos con scp a una instancia EC2. Cada uno corre como servicio de systemd en su puerto, del 8081 al 8086, con reinicio automático. La captura superior muestra el servicio activo y la inferior los seis JAR desplegados. Cada servicio se conecta a su propia base en RDS PostgreSQL.</a:t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Aquí está la instancia de API Gateway en la consola: una API HTTP llamada pedidos360-api. Definí seis rutas, una por microservicio, con el patrón /api/servicio/proxy, cada una integrada por HTTP con la IP del EC2 y el puerto de su servicio. Así el frontend nunca habla directo con los microservicios.</a:t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API Gateway valida el JWT con un authorizer: comprueba la firma, el emisor, que es mi tenant, y la audiencia, que es el App ID de Pedidos360-API. Está asociado a las seis rutas. Además configuré CORS solo para el origen del frontend, con los métodos y cabeceras que necesita, sin abrirlo a cualquier origen.</a:t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es la prueba clave. Llamo al mismo endpoint a través del API Gateway. Con un token válido obtenido de Entra ID responde 200 con el JSON del usuario; sin token válido, el gateway responde 401 y la petición nunca llega al microservicio. Repito la prueba en vivo con las seis rutas.</a:t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cerrar: quedó funcionando el flujo completo de identidad, gateway, microservicios y base de datos. Como mejoras identifiqué desplegar el frontend en la nube, habilitar el registro de usuarios con External ID, mover los secretos a Secrets Manager y restringir el acceso directo a los puertos de los microservicios. Quedo atento a sus preguntas.</a:t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548640" y="8229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DSY1107 · DESARROLLO CLOUD NATIVE 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548640" y="123444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Pedidos360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48640" y="2286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Arquitectura segura con Microsoft Entra ID y AWS: API Gateway, EC2 y 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48640" y="38404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Evaluación Parcial N° 2 · Presentación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48640" y="4160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Vicente Manríquez Rojas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263640" y="868680"/>
            <a:ext cx="2331600" cy="512100"/>
          </a:xfrm>
          <a:prstGeom prst="roundRect">
            <a:avLst>
              <a:gd fmla="val 21429" name="adj"/>
            </a:avLst>
          </a:prstGeom>
          <a:solidFill>
            <a:srgbClr val="13315C"/>
          </a:solidFill>
          <a:ln cap="flat" cmpd="sng" w="9525">
            <a:solidFill>
              <a:srgbClr val="133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6263640" y="868680"/>
            <a:ext cx="2331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+ MSAL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7429500" y="1399032"/>
            <a:ext cx="0" cy="183000"/>
          </a:xfrm>
          <a:prstGeom prst="straightConnector1">
            <a:avLst/>
          </a:prstGeom>
          <a:noFill/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" name="Google Shape;24;p3"/>
          <p:cNvSpPr/>
          <p:nvPr/>
        </p:nvSpPr>
        <p:spPr>
          <a:xfrm>
            <a:off x="6263640" y="1600200"/>
            <a:ext cx="2331600" cy="512100"/>
          </a:xfrm>
          <a:prstGeom prst="roundRect">
            <a:avLst>
              <a:gd fmla="val 21429" name="adj"/>
            </a:avLst>
          </a:prstGeom>
          <a:solidFill>
            <a:srgbClr val="0078D4"/>
          </a:solidFill>
          <a:ln cap="flat" cmpd="sng" w="9525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6263640" y="1600200"/>
            <a:ext cx="2331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Microsoft Entra 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7429500" y="2130552"/>
            <a:ext cx="0" cy="183000"/>
          </a:xfrm>
          <a:prstGeom prst="straightConnector1">
            <a:avLst/>
          </a:prstGeom>
          <a:noFill/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" name="Google Shape;27;p3"/>
          <p:cNvSpPr/>
          <p:nvPr/>
        </p:nvSpPr>
        <p:spPr>
          <a:xfrm>
            <a:off x="6263640" y="2331720"/>
            <a:ext cx="2331600" cy="512100"/>
          </a:xfrm>
          <a:prstGeom prst="roundRect">
            <a:avLst>
              <a:gd fmla="val 21429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6263640" y="2331720"/>
            <a:ext cx="2331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AWS API Gateway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7429500" y="2862072"/>
            <a:ext cx="0" cy="183000"/>
          </a:xfrm>
          <a:prstGeom prst="straightConnector1">
            <a:avLst/>
          </a:prstGeom>
          <a:noFill/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" name="Google Shape;30;p3"/>
          <p:cNvSpPr/>
          <p:nvPr/>
        </p:nvSpPr>
        <p:spPr>
          <a:xfrm>
            <a:off x="6263640" y="3063240"/>
            <a:ext cx="2331600" cy="512100"/>
          </a:xfrm>
          <a:prstGeom prst="roundRect">
            <a:avLst>
              <a:gd fmla="val 21429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6263640" y="3063240"/>
            <a:ext cx="2331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EC2 · Spring Boot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7429500" y="3593592"/>
            <a:ext cx="0" cy="183000"/>
          </a:xfrm>
          <a:prstGeom prst="straightConnector1">
            <a:avLst/>
          </a:prstGeom>
          <a:noFill/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" name="Google Shape;33;p3"/>
          <p:cNvSpPr/>
          <p:nvPr/>
        </p:nvSpPr>
        <p:spPr>
          <a:xfrm>
            <a:off x="6263640" y="3794760"/>
            <a:ext cx="2331600" cy="512100"/>
          </a:xfrm>
          <a:prstGeom prst="roundRect">
            <a:avLst>
              <a:gd fmla="val 21429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6263640" y="3794760"/>
            <a:ext cx="2331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RDS · PostgreSQL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457200" y="274320"/>
            <a:ext cx="2514600" cy="274320"/>
          </a:xfrm>
          <a:prstGeom prst="roundRect">
            <a:avLst>
              <a:gd fmla="val 50000" name="adj"/>
            </a:avLst>
          </a:prstGeom>
          <a:solidFill>
            <a:srgbClr val="DCEBFA"/>
          </a:solidFill>
          <a:ln cap="flat" cmpd="sng" w="9525">
            <a:solidFill>
              <a:srgbClr val="DCE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457200" y="2743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8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4F8A"/>
                </a:solidFill>
                <a:latin typeface="Calibri"/>
                <a:ea typeface="Calibri"/>
                <a:cs typeface="Calibri"/>
                <a:sym typeface="Calibri"/>
              </a:rPr>
              <a:t>Visión general · hilo conductor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Arquitectura de la solución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22960" y="1371600"/>
            <a:ext cx="2743200" cy="777240"/>
          </a:xfrm>
          <a:prstGeom prst="roundRect">
            <a:avLst>
              <a:gd fmla="val 14118" name="adj"/>
            </a:avLst>
          </a:prstGeom>
          <a:solidFill>
            <a:srgbClr val="0078D4"/>
          </a:solidFill>
          <a:ln cap="flat" cmpd="sng" w="9525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822960" y="137160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Microsoft Entra 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OAuth 2.0 / OpenID Connect · emite el JWT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2788920"/>
            <a:ext cx="1783080" cy="1417320"/>
          </a:xfrm>
          <a:prstGeom prst="roundRect">
            <a:avLst>
              <a:gd fmla="val 7742" name="adj"/>
            </a:avLst>
          </a:prstGeom>
          <a:solidFill>
            <a:srgbClr val="13315C"/>
          </a:solidFill>
          <a:ln cap="flat" cmpd="sng" w="9525">
            <a:solidFill>
              <a:srgbClr val="1331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457200" y="2788920"/>
            <a:ext cx="1783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React + MSAL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Vite · localhost:5173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4"/>
          <p:cNvCxnSpPr/>
          <p:nvPr/>
        </p:nvCxnSpPr>
        <p:spPr>
          <a:xfrm>
            <a:off x="2267712" y="34975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0B1F3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" name="Google Shape;48;p4"/>
          <p:cNvSpPr/>
          <p:nvPr/>
        </p:nvSpPr>
        <p:spPr>
          <a:xfrm>
            <a:off x="2606040" y="2788920"/>
            <a:ext cx="1783080" cy="1417320"/>
          </a:xfrm>
          <a:prstGeom prst="roundRect">
            <a:avLst>
              <a:gd fmla="val 7742" name="adj"/>
            </a:avLst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2606040" y="2788920"/>
            <a:ext cx="1783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HTTP API · 6 rutas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CORS + JWT authorizer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4"/>
          <p:cNvCxnSpPr/>
          <p:nvPr/>
        </p:nvCxnSpPr>
        <p:spPr>
          <a:xfrm>
            <a:off x="4416552" y="34975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0B1F3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" name="Google Shape;51;p4"/>
          <p:cNvSpPr/>
          <p:nvPr/>
        </p:nvSpPr>
        <p:spPr>
          <a:xfrm>
            <a:off x="4754880" y="2788920"/>
            <a:ext cx="1783080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4754880" y="2788920"/>
            <a:ext cx="1783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EC2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Java 21 · 6 JAR con systemd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Puertos 8081–8086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4"/>
          <p:cNvCxnSpPr/>
          <p:nvPr/>
        </p:nvCxnSpPr>
        <p:spPr>
          <a:xfrm>
            <a:off x="6565392" y="34975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0B1F3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" name="Google Shape;54;p4"/>
          <p:cNvSpPr/>
          <p:nvPr/>
        </p:nvSpPr>
        <p:spPr>
          <a:xfrm>
            <a:off x="6903720" y="2788920"/>
            <a:ext cx="1783080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6903720" y="2788920"/>
            <a:ext cx="1783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6 bases de datos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4"/>
          <p:cNvCxnSpPr/>
          <p:nvPr/>
        </p:nvCxnSpPr>
        <p:spPr>
          <a:xfrm>
            <a:off x="1325880" y="2194560"/>
            <a:ext cx="0" cy="548640"/>
          </a:xfrm>
          <a:prstGeom prst="straightConnector1">
            <a:avLst/>
          </a:prstGeom>
          <a:noFill/>
          <a:ln cap="flat" cmpd="sng" w="25400">
            <a:solidFill>
              <a:srgbClr val="0078D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7" name="Google Shape;57;p4"/>
          <p:cNvSpPr txBox="1"/>
          <p:nvPr/>
        </p:nvSpPr>
        <p:spPr>
          <a:xfrm>
            <a:off x="1417320" y="23317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① login + ② 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4"/>
          <p:cNvCxnSpPr/>
          <p:nvPr/>
        </p:nvCxnSpPr>
        <p:spPr>
          <a:xfrm>
            <a:off x="3474720" y="2194560"/>
            <a:ext cx="0" cy="548640"/>
          </a:xfrm>
          <a:prstGeom prst="straightConnector1">
            <a:avLst/>
          </a:prstGeom>
          <a:noFill/>
          <a:ln cap="flat" cmpd="sng" w="25400">
            <a:solidFill>
              <a:srgbClr val="0078D4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9" name="Google Shape;59;p4"/>
          <p:cNvSpPr txBox="1"/>
          <p:nvPr/>
        </p:nvSpPr>
        <p:spPr>
          <a:xfrm>
            <a:off x="3584448" y="23317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④ valida emisor y audiencia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5943600" y="1298448"/>
            <a:ext cx="2743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Flujo de una petición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③ El frontend envía el JWT (Bearer) al API Gateway.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⑤ Si es válido, enruta al microservicio en EC2.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⑥ El microservicio consulta su base en RDS.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Todo el tráfico del navegador pasa por Entra ID y por el API Gateway antes de llegar a un microservicio.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457200" y="274320"/>
            <a:ext cx="3246120" cy="274320"/>
          </a:xfrm>
          <a:prstGeom prst="roundRect">
            <a:avLst>
              <a:gd fmla="val 50000" name="adj"/>
            </a:avLst>
          </a:prstGeom>
          <a:solidFill>
            <a:srgbClr val="DCEBFA"/>
          </a:solidFill>
          <a:ln cap="flat" cmpd="sng" w="9525">
            <a:solidFill>
              <a:srgbClr val="DCE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457200" y="2743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8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4F8A"/>
                </a:solidFill>
                <a:latin typeface="Calibri"/>
                <a:ea typeface="Calibri"/>
                <a:cs typeface="Calibri"/>
                <a:sym typeface="Calibri"/>
              </a:rPr>
              <a:t>Pauta: tenant en IDaaS · aplicación registrada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Identidad: tenant y aplicaciones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7200" y="1435608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9525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457200" y="14356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1005840" y="1417320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Directorio (tenant) de Entra 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B2B3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Inquilino único</a:t>
            </a:r>
            <a:r>
              <a:rPr lang="en-US" sz="1200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la cuenta institucional es el usuario que inicia sesión.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57200" y="2487168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9525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457200" y="24871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1005840" y="2468880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Pedidos360-API (backend)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B2B3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Expone el scope access_as_user en a</a:t>
            </a:r>
            <a:r>
              <a:rPr b="1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pi://8be9</a:t>
            </a:r>
            <a:r>
              <a:rPr b="1" lang="en-US" sz="1200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r>
              <a:rPr b="0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 y define los roles Admin, Vendedor y Cliente.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3538728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9525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457200" y="3538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1005840" y="3520440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Pedidos360-Frontend (SPA)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B2B3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Redirección a </a:t>
            </a:r>
            <a:r>
              <a:rPr b="1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http://localhost:5173</a:t>
            </a:r>
            <a:r>
              <a:rPr b="0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/ y permiso delegado </a:t>
            </a:r>
            <a:r>
              <a:rPr b="1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access_as_use</a:t>
            </a:r>
            <a:r>
              <a:rPr b="0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r hacia la API.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700016" y="1316736"/>
            <a:ext cx="4041648" cy="202355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mage1.png" id="80" name="Google Shape;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0" y="1371600"/>
            <a:ext cx="3931920" cy="191382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4700016" y="3465576"/>
            <a:ext cx="4041648" cy="112115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mage12.png" id="82" name="Google Shape;8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3520440"/>
            <a:ext cx="3931920" cy="101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457200" y="274320"/>
            <a:ext cx="4297680" cy="274320"/>
          </a:xfrm>
          <a:prstGeom prst="roundRect">
            <a:avLst>
              <a:gd fmla="val 50000" name="adj"/>
            </a:avLst>
          </a:prstGeom>
          <a:solidFill>
            <a:srgbClr val="DCEBFA"/>
          </a:solidFill>
          <a:ln cap="flat" cmpd="sng" w="9525">
            <a:solidFill>
              <a:srgbClr val="DCE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457200" y="2743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8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4F8A"/>
                </a:solidFill>
                <a:latin typeface="Calibri"/>
                <a:ea typeface="Calibri"/>
                <a:cs typeface="Calibri"/>
                <a:sym typeface="Calibri"/>
              </a:rPr>
              <a:t>Pauta: OAuth 2.0 / OpenID Connect · Authorization Code + PKCE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Login con OAuth 2.0 / OIDC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9525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932688" y="1325880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Configuración MSAL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02336" y="1819656"/>
            <a:ext cx="2624328" cy="192098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mage31.png"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74520"/>
            <a:ext cx="2514600" cy="181125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 txBox="1"/>
          <p:nvPr/>
        </p:nvSpPr>
        <p:spPr>
          <a:xfrm>
            <a:off x="457200" y="397764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msalConfig con clientId, authority del tenant y redirectUri. Al ser SPA, MSAL usa Authorization Code con PKCE.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314700" y="1325880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9525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3314700" y="13258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3790188" y="1325880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Inicio de sesión en Entra 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284550" y="1819656"/>
            <a:ext cx="2574901" cy="20299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login_crop.png" id="101" name="Google Shape;10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9414" y="1874520"/>
            <a:ext cx="2465173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 txBox="1"/>
          <p:nvPr/>
        </p:nvSpPr>
        <p:spPr>
          <a:xfrm>
            <a:off x="3314700" y="397764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loginRedirect lleva al usuario a Microsoft; al volver, MSAL canjea el código por el JWT.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9525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6647688" y="1325880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Sesión iniciada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194099" y="1819656"/>
            <a:ext cx="2470801" cy="20299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welcome_crop.png" id="107" name="Google Shape;10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963" y="1874520"/>
            <a:ext cx="2361073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/>
        </p:nvSpPr>
        <p:spPr>
          <a:xfrm>
            <a:off x="6172200" y="397764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La app ya tiene el token y llama al API Gateway: respuesta 200 OK.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457200" y="274320"/>
            <a:ext cx="3291840" cy="274320"/>
          </a:xfrm>
          <a:prstGeom prst="roundRect">
            <a:avLst>
              <a:gd fmla="val 50000" name="adj"/>
            </a:avLst>
          </a:prstGeom>
          <a:solidFill>
            <a:srgbClr val="DCEBFA"/>
          </a:solidFill>
          <a:ln cap="flat" cmpd="sng" w="9525">
            <a:solidFill>
              <a:srgbClr val="DCE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457200" y="274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8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4F8A"/>
                </a:solidFill>
                <a:latin typeface="Calibri"/>
                <a:ea typeface="Calibri"/>
                <a:cs typeface="Calibri"/>
                <a:sym typeface="Calibri"/>
              </a:rPr>
              <a:t>Pauta: backend desplegado, activo e integrado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Backend desplegado en EC2 + RDS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457200" y="13716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078D4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457200" y="1975104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microservicios Spring Boot en Java 21, un JAR por servicio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457200" y="24688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078D4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457200" y="3072384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bases de datos PostgreSQL en una instancia 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457200" y="356616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078D4"/>
                </a:solidFill>
                <a:latin typeface="Cambria"/>
                <a:ea typeface="Cambria"/>
                <a:cs typeface="Cambria"/>
                <a:sym typeface="Cambria"/>
              </a:rPr>
              <a:t>8081–8086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457200" y="4169664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un puerto por servicio; systemd los mantiene activos (Restart=always)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425696" y="1316736"/>
            <a:ext cx="4315968" cy="86560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status_crop.png"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0560" y="1371600"/>
            <a:ext cx="4206240" cy="75587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4433445" y="2322576"/>
            <a:ext cx="4300470" cy="23042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mage2.png" id="126" name="Google Shape;12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8309" y="2377440"/>
            <a:ext cx="4190742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7"/>
          <p:cNvPicPr preferRelativeResize="0"/>
          <p:nvPr/>
        </p:nvPicPr>
        <p:blipFill rotWithShape="1">
          <a:blip r:embed="rId5">
            <a:alphaModFix/>
          </a:blip>
          <a:srcRect b="23717" l="0" r="10096" t="0"/>
          <a:stretch/>
        </p:blipFill>
        <p:spPr>
          <a:xfrm>
            <a:off x="4464125" y="1368575"/>
            <a:ext cx="4239124" cy="7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457200" y="274320"/>
            <a:ext cx="4114800" cy="274320"/>
          </a:xfrm>
          <a:prstGeom prst="roundRect">
            <a:avLst>
              <a:gd fmla="val 50000" name="adj"/>
            </a:avLst>
          </a:prstGeom>
          <a:solidFill>
            <a:srgbClr val="DCEBFA"/>
          </a:solidFill>
          <a:ln cap="flat" cmpd="sng" w="9525">
            <a:solidFill>
              <a:srgbClr val="DCE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 txBox="1"/>
          <p:nvPr/>
        </p:nvSpPr>
        <p:spPr>
          <a:xfrm>
            <a:off x="457200" y="2743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8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4F8A"/>
                </a:solidFill>
                <a:latin typeface="Calibri"/>
                <a:ea typeface="Calibri"/>
                <a:cs typeface="Calibri"/>
                <a:sym typeface="Calibri"/>
              </a:rPr>
              <a:t>Pauta: instancia de API Manager y rutas hacia el backend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API Gateway: rutas a los microservicios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04024" y="1316736"/>
            <a:ext cx="5135553" cy="2633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mage33.png"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888" y="1371600"/>
            <a:ext cx="5025825" cy="2523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457200" y="4069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Rutas y destinos de integración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5760720" y="132588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250"/>
              <a:buFont typeface="Calibri"/>
              <a:buChar char="•"/>
            </a:pPr>
            <a:r>
              <a:rPr b="1" i="0" lang="en-US" sz="12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HTTP API “pedidos360-api”</a:t>
            </a:r>
            <a:r>
              <a:rPr b="0" i="0" lang="en-US" sz="12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, etapa prod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B3F"/>
              </a:buClr>
              <a:buSzPts val="1250"/>
              <a:buFont typeface="Calibri"/>
              <a:buChar char="•"/>
            </a:pPr>
            <a:r>
              <a:rPr b="1" i="0" lang="en-US" sz="12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Integración HTTP</a:t>
            </a:r>
            <a:r>
              <a:rPr b="0" i="0" lang="en-US" sz="12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 hacia la IP pública del EC2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B3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Una ruta por servicio: </a:t>
            </a:r>
            <a:r>
              <a:rPr b="1" i="0" lang="en-US" sz="12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/api/{servicio}/{proxy+}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B3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Método ANY: cubre </a:t>
            </a:r>
            <a:r>
              <a:rPr b="1" i="0" lang="en-US" sz="12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GET, POST, PUT y DELETE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705856" y="3145536"/>
            <a:ext cx="3035808" cy="1239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mage10.png" id="141" name="Google Shape;14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3200400"/>
            <a:ext cx="2926080" cy="1130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45720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DCEBFA"/>
          </a:solidFill>
          <a:ln cap="flat" cmpd="sng" w="9525">
            <a:solidFill>
              <a:srgbClr val="DCE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45720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8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4F8A"/>
                </a:solidFill>
                <a:latin typeface="Calibri"/>
                <a:ea typeface="Calibri"/>
                <a:cs typeface="Calibri"/>
                <a:sym typeface="Calibri"/>
              </a:rPr>
              <a:t>Pauta: validación JWT · CORS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Seguridad: JWT authorizer y CORS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457200" y="13258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JWT authorizer asociado a las rutas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4663440" y="13258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CORS restringido al origen del 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02336" y="1728216"/>
            <a:ext cx="4133088" cy="201704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mage14.png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83080"/>
            <a:ext cx="4023360" cy="1907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/>
          <p:nvPr/>
        </p:nvSpPr>
        <p:spPr>
          <a:xfrm>
            <a:off x="4608576" y="1728216"/>
            <a:ext cx="4133088" cy="16166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mage61.png" id="155" name="Google Shape;15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783080"/>
            <a:ext cx="4023360" cy="150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 txBox="1"/>
          <p:nvPr/>
        </p:nvSpPr>
        <p:spPr>
          <a:xfrm>
            <a:off x="457200" y="3886200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Emisor: </a:t>
            </a: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login.microsoftonline.com/&lt;tenant&gt;/v2.0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Audiencia: </a:t>
            </a: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App ID de Pedidos360-API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Token en: </a:t>
            </a: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cabecera Authorization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4663440" y="3886200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Origen: </a:t>
            </a: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http://localhost:5173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Métodos: </a:t>
            </a: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GET, POST, PUT, DELETE, OPTIONS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Headers: </a:t>
            </a:r>
            <a:r>
              <a:rPr b="0" i="0" lang="en-US" sz="11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authorization, content-type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457200" y="274320"/>
            <a:ext cx="4206240" cy="274320"/>
          </a:xfrm>
          <a:prstGeom prst="roundRect">
            <a:avLst>
              <a:gd fmla="val 50000" name="adj"/>
            </a:avLst>
          </a:prstGeom>
          <a:solidFill>
            <a:srgbClr val="DCEBFA"/>
          </a:solidFill>
          <a:ln cap="flat" cmpd="sng" w="9525">
            <a:solidFill>
              <a:srgbClr val="DCE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 txBox="1"/>
          <p:nvPr/>
        </p:nvSpPr>
        <p:spPr>
          <a:xfrm>
            <a:off x="457200" y="2743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8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4F8A"/>
                </a:solidFill>
                <a:latin typeface="Calibri"/>
                <a:ea typeface="Calibri"/>
                <a:cs typeface="Calibri"/>
                <a:sym typeface="Calibri"/>
              </a:rPr>
              <a:t>Pauta: rechaza peticiones inválidas, acepta las correctas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Prueba: con token vs. sin token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57200" y="1371600"/>
            <a:ext cx="4023360" cy="347472"/>
          </a:xfrm>
          <a:prstGeom prst="roundRect">
            <a:avLst>
              <a:gd fmla="val 50000" name="adj"/>
            </a:avLst>
          </a:prstGeom>
          <a:solidFill>
            <a:srgbClr val="1E7D3A"/>
          </a:solidFill>
          <a:ln cap="flat" cmpd="sng" w="9525">
            <a:solidFill>
              <a:srgbClr val="1E7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457200" y="137160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 OK · con token válido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4663440" y="1371600"/>
            <a:ext cx="4023360" cy="347472"/>
          </a:xfrm>
          <a:prstGeom prst="roundRect">
            <a:avLst>
              <a:gd fmla="val 50000" name="adj"/>
            </a:avLst>
          </a:prstGeom>
          <a:solidFill>
            <a:srgbClr val="B3261E"/>
          </a:solidFill>
          <a:ln cap="flat" cmpd="sng" w="9525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4663440" y="137160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401 Unauthorized · token inválido o ausente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02425" y="1819650"/>
            <a:ext cx="4132800" cy="220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usuarios_200_redacted.png"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18950" t="4952"/>
          <a:stretch/>
        </p:blipFill>
        <p:spPr>
          <a:xfrm>
            <a:off x="506900" y="1874525"/>
            <a:ext cx="3973599" cy="205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/>
          <p:nvPr/>
        </p:nvSpPr>
        <p:spPr>
          <a:xfrm>
            <a:off x="4608576" y="1819656"/>
            <a:ext cx="4133088" cy="22030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image45.png" id="173" name="Google Shape;17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874520"/>
            <a:ext cx="4023360" cy="209333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3F"/>
                </a:solidFill>
                <a:latin typeface="Calibri"/>
                <a:ea typeface="Calibri"/>
                <a:cs typeface="Calibri"/>
                <a:sym typeface="Calibri"/>
              </a:rPr>
              <a:t>Mismo endpoint GET /prod/api/usuarios/1: el authorizer verifica firma, emisor y audiencia antes de llegar al microservicio.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Resultados y próximos pasos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457200" y="1371600"/>
            <a:ext cx="4023360" cy="2651760"/>
          </a:xfrm>
          <a:prstGeom prst="rect">
            <a:avLst/>
          </a:prstGeom>
          <a:solidFill>
            <a:srgbClr val="13315C"/>
          </a:solidFill>
          <a:ln cap="flat" cmpd="sng" w="9525">
            <a:solidFill>
              <a:srgbClr val="133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Cambria"/>
                <a:ea typeface="Cambria"/>
                <a:cs typeface="Cambria"/>
                <a:sym typeface="Cambria"/>
              </a:rPr>
              <a:t>Lo logrado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31520" y="2057400"/>
            <a:ext cx="3520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Tenant con API y frontend registrados (scope y roles)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OIDC con MSAL y obtención del JWT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microservicios en EC2 conectados a RDS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 con 6 rutas, CORS y JWT authorizer (200 / 401)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663440" y="1371600"/>
            <a:ext cx="4023360" cy="2651760"/>
          </a:xfrm>
          <a:prstGeom prst="rect">
            <a:avLst/>
          </a:prstGeom>
          <a:solidFill>
            <a:srgbClr val="13315C"/>
          </a:solidFill>
          <a:ln cap="flat" cmpd="sng" w="9525">
            <a:solidFill>
              <a:srgbClr val="133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4937760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8F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7FB8F0"/>
                </a:solidFill>
                <a:latin typeface="Cambria"/>
                <a:ea typeface="Cambria"/>
                <a:cs typeface="Cambria"/>
                <a:sym typeface="Cambria"/>
              </a:rPr>
              <a:t>Próximos pasos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4937760" y="2057400"/>
            <a:ext cx="3520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Desplegar el frontend en la nube (hoy corre en localhost:5173)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Habilitar el registro de usuarios con Entra External ID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Gracias · ¿Preguntas?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